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eberdachungberlin.blogspot.com/2026/10/holzuberdachung-im-berliner-winter.html" TargetMode="External"/><Relationship Id="rId3" Type="http://schemas.openxmlformats.org/officeDocument/2006/relationships/hyperlink" Target="https://holzundhaus.github.io/holzueberdachungberlin/dateien/minimax-27b1d11a86c0600b4872eb3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Holzüberdachung im Berliner Winter: Schnee, Eis und Belastung im Griff · Erklärende Präsentation</a:t>
            </a:r>
          </a:p>
        </p:txBody>
      </p:sp>
      <p:sp>
        <p:nvSpPr>
          <p:cNvPr id="3" name="Content Placeholder 2"/>
          <p:cNvSpPr>
            <a:spLocks noGrp="1"/>
          </p:cNvSpPr>
          <p:nvPr>
            <p:ph idx="1"/>
          </p:nvPr>
        </p:nvSpPr>
        <p:spPr/>
        <p:txBody>
          <a:bodyPr/>
          <a:lstStyle/>
          <a:p>
            <a:r>
              <a:t>Überblick: Ein winterlicher Ratgeber für Holzüberdachungen in Berlin: [Hinweise für Schnee, Eis und Belastung im Berliner Winter](https://holzueberdachungberlin.blogspot.com/2026/10/holzuberdachung-im-berliner-winter.html) helfen dabei, die Nutzung geschützt zu planen und typische Risiken frühzeitig zu erkennen.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belastet die Konstruktion unterschiedlich</a:t>
            </a:r>
          </a:p>
        </p:txBody>
      </p:sp>
      <p:sp>
        <p:nvSpPr>
          <p:cNvPr id="3" name="Content Placeholder 2"/>
          <p:cNvSpPr>
            <a:spLocks noGrp="1"/>
          </p:cNvSpPr>
          <p:nvPr>
            <p:ph idx="1"/>
          </p:nvPr>
        </p:nvSpPr>
        <p:spPr/>
        <p:txBody>
          <a:bodyPr/>
          <a:lstStyle/>
          <a:p>
            <a:pPr>
              <a:defRPr sz="1800"/>
            </a:pPr>
            <a:r>
              <a:t>Die Belastung einer Holzüberdachung hängt nicht allein von der sichtbaren Schneedicke ab. Nasser Schnee und Eis können deutlich schwerer sein als Pulverschnee. Wind kann Schnee an einer Stelle sammeln, während Tauwetter Wasser in Ecken und Kehlen entstehen lässt. Eine pauschale Grenze zum Räumen ist daher nicht sinnvoll: Entscheidend sind unter anderem Standort, Dachneigung, Spannweite, Pfostenabstände, Sparrenquerschnitte und die geplante Konstruktion. Wer die Belastungsgrenze nicht kennt, sollte sie vor dem ersten starken Schneefall mit dem Holzbaubetrieb oder der Statik klären. Zusätzliche Beschattungen oder eine schwerere Dachdeckung könn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belastet die Konstruktion unterschiedlich</a:t>
            </a:r>
          </a:p>
        </p:txBody>
      </p:sp>
      <p:sp>
        <p:nvSpPr>
          <p:cNvPr id="3" name="Content Placeholder 2"/>
          <p:cNvSpPr>
            <a:spLocks noGrp="1"/>
          </p:cNvSpPr>
          <p:nvPr>
            <p:ph idx="1"/>
          </p:nvPr>
        </p:nvSpPr>
        <p:spPr/>
        <p:txBody>
          <a:bodyPr/>
          <a:lstStyle/>
          <a:p>
            <a:pPr>
              <a:defRPr sz="1800"/>
            </a:pPr>
            <a:r>
              <a:t>en die ursprünglichen Annahmen verändern und müssen bei einer solchen Prüfung berücksichtigt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schonend entfernen</a:t>
            </a:r>
          </a:p>
        </p:txBody>
      </p:sp>
      <p:sp>
        <p:nvSpPr>
          <p:cNvPr id="3" name="Content Placeholder 2"/>
          <p:cNvSpPr>
            <a:spLocks noGrp="1"/>
          </p:cNvSpPr>
          <p:nvPr>
            <p:ph idx="1"/>
          </p:nvPr>
        </p:nvSpPr>
        <p:spPr/>
        <p:txBody>
          <a:bodyPr/>
          <a:lstStyle/>
          <a:p>
            <a:pPr>
              <a:defRPr sz="1800"/>
            </a:pPr>
            <a:r>
              <a:t>Regelmäßiges, aber vorsichtiges Räumen reduziert die Last und hilft, Eisbrücken zu vermeiden. Geeignet sind weiche Werkzeuge wie Schneebesen mit weichen Borsten, Abzieher mit Gummilippe oder Holzschieber ohne scharfe Kanten. Metallische Schneeschaufeln, scharfkantige Eiskratzer und großflächig eingesetztes Streusalz können Deckungen und Holz beschädigen. Bei Glasflächen sind Stöße und Punktbelastungen besonders zu vermeiden, da daraus Spannungen und Risse entstehen können. Der Zeitpunkt des Räumens sollte nicht allein von einer festen Zentimeterzahl abhängen, sondern von der tatsächlichen Beanspruchung der jeweiligen Überdachung. Bei unklarer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schonend entfernen</a:t>
            </a:r>
          </a:p>
        </p:txBody>
      </p:sp>
      <p:sp>
        <p:nvSpPr>
          <p:cNvPr id="3" name="Content Placeholder 2"/>
          <p:cNvSpPr>
            <a:spLocks noGrp="1"/>
          </p:cNvSpPr>
          <p:nvPr>
            <p:ph idx="1"/>
          </p:nvPr>
        </p:nvSpPr>
        <p:spPr/>
        <p:txBody>
          <a:bodyPr/>
          <a:lstStyle/>
          <a:p>
            <a:pPr>
              <a:defRPr sz="1800"/>
            </a:pPr>
            <a:r>
              <a:t> Tragfähigkeit ist Rücksprache sinnvoller als einräumen auf Verdacht.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Rinne und Fallrohr im Blick behalten</a:t>
            </a:r>
          </a:p>
        </p:txBody>
      </p:sp>
      <p:sp>
        <p:nvSpPr>
          <p:cNvPr id="3" name="Content Placeholder 2"/>
          <p:cNvSpPr>
            <a:spLocks noGrp="1"/>
          </p:cNvSpPr>
          <p:nvPr>
            <p:ph idx="1"/>
          </p:nvPr>
        </p:nvSpPr>
        <p:spPr/>
        <p:txBody>
          <a:bodyPr/>
          <a:lstStyle/>
          <a:p>
            <a:pPr>
              <a:defRPr sz="1800"/>
            </a:pPr>
            <a:r>
              <a:t>Rinnen, Fallrohre und die Übergänge vom Dach sind im Winter besonders gefährdete Stellen. Laub und Schmutz können zusammen mit Wasser eine Eisplatte bilden und den Ablauf blockieren. Ein zu kurzer Auslauf des Fallrohrs lässt Eis nach oben wachsen und kann Wasser zur Holzkonstruktion zurückdrängen. Vor dem ersten Frost sollten Rinne und Fallrohr deshalb gereinigt und auf freien Abfluss geprüft werden. Laubschutzgitter müssen frei liegen und dürfen nicht zusätzlich Wasser oder Schmutz festhalten. Eisstücke sollten nicht mit Gewalt abgebrochen werden, weil dabei Halter, Anschlüsse und Holz beschädigt werden können.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Taumittel nur mit Bedacht einsetzen</a:t>
            </a:r>
          </a:p>
        </p:txBody>
      </p:sp>
      <p:sp>
        <p:nvSpPr>
          <p:cNvPr id="3" name="Content Placeholder 2"/>
          <p:cNvSpPr>
            <a:spLocks noGrp="1"/>
          </p:cNvSpPr>
          <p:nvPr>
            <p:ph idx="1"/>
          </p:nvPr>
        </p:nvSpPr>
        <p:spPr/>
        <p:txBody>
          <a:bodyPr/>
          <a:lstStyle/>
          <a:p>
            <a:pPr>
              <a:defRPr sz="1800"/>
            </a:pPr>
            <a:r>
              <a:t>Taumittel sind nicht für jede Holzüberdachung automatisch geeignet. Streusalz kann Holz, insbesondere an Schnittkanten, Verbindungen und waagerechten Flächen, belasten. Auch angrenzende Bauteile wie Mauerwerk oder Beete und Haustiere müssen berücksichtigt werden. Auf der Dachfläche und in der Rinne sollten Taumittel in der Regel vermieden werden. Wenn ein Mittel notwendig ist, sollte es gezielt und nur dort eingesetzt werden, wo es tatsächlich benötigt wird, beispielsweise auf einem Weg zur Tür. Die passende Auswahl für den jeweiligen Untergrund lässt sich besser mit dem Fachhandel oder dem Holzbaupetrieb abstimmen.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Winterfest planen und rechtzeitig handeln</a:t>
            </a:r>
          </a:p>
        </p:txBody>
      </p:sp>
      <p:sp>
        <p:nvSpPr>
          <p:cNvPr id="3" name="Content Placeholder 2"/>
          <p:cNvSpPr>
            <a:spLocks noGrp="1"/>
          </p:cNvSpPr>
          <p:nvPr>
            <p:ph idx="1"/>
          </p:nvPr>
        </p:nvSpPr>
        <p:spPr/>
        <p:txBody>
          <a:bodyPr/>
          <a:lstStyle/>
          <a:p>
            <a:pPr>
              <a:defRPr sz="1800"/>
            </a:pPr>
            <a:r>
              <a:t>Eine kleine Checkliste vor dem Winterstart hilft, typische Schwachstellen früh zu erkennen: Rinne und Fallrohr reinigen, weiche Räumwerkzeuge bereitlegen, Taumittel zurückhaltend einsetzen und die Belastungsgrenzen der Konstruktion notieren. Ergänzend sollten rechtliche und technische Fragen gemeinsam betrachtet werden, damit die gewünschte Nutzung zur tatsächlichen Konstruktion passt. [Weiterführende Hinweise zur Baugenehmigung einer Terrassenüberdachung in Berlin](https://www.holzueberdachungberlin.de/ratgeber/terrassenueberdachung-baugenehmigung-berlin/) zeigen, wie diese Themen zusammenhängen. Wer regelmäßig pflegt, die Grenzen der Konstr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Winterfest planen und rechtzeitig handeln</a:t>
            </a:r>
          </a:p>
        </p:txBody>
      </p:sp>
      <p:sp>
        <p:nvSpPr>
          <p:cNvPr id="3" name="Content Placeholder 2"/>
          <p:cNvSpPr>
            <a:spLocks noGrp="1"/>
          </p:cNvSpPr>
          <p:nvPr>
            <p:ph idx="1"/>
          </p:nvPr>
        </p:nvSpPr>
        <p:spPr/>
        <p:txBody>
          <a:bodyPr/>
          <a:lstStyle/>
          <a:p>
            <a:pPr>
              <a:defRPr sz="1800"/>
            </a:pPr>
            <a:r>
              <a:t>uktion kennt und bei Unsicherheiten fachlichen Rat einholt, kann die Holzüberdachung besser durch Schnee, Eis und wechselnde Witterung begleiten.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Holzüberdachung im Berliner Winter: Schnee, Eis und Belastung im Griff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