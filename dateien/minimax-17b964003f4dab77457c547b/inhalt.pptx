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ueberdachungberlin/-/blob/2616443327805b7b58a779b37ed56482fdede099/_posts/2026-10-24-holzueberdachung-gartengestaltung-grundstuecksplanung.md" TargetMode="External"/><Relationship Id="rId3" Type="http://schemas.openxmlformats.org/officeDocument/2006/relationships/hyperlink" Target="https://holzundhaus.github.io/holzueberdachungberlin/dateien/minimax-17b964003f4dab77457c547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Holzüberdachung in die Gartengestaltung einbetten: Worauf Grundstückseigentümer achten sollten · Erklärende Präsentation</a:t>
            </a:r>
          </a:p>
        </p:txBody>
      </p:sp>
      <p:sp>
        <p:nvSpPr>
          <p:cNvPr id="3" name="Content Placeholder 2"/>
          <p:cNvSpPr>
            <a:spLocks noGrp="1"/>
          </p:cNvSpPr>
          <p:nvPr>
            <p:ph idx="1"/>
          </p:nvPr>
        </p:nvSpPr>
        <p:spPr/>
        <p:txBody>
          <a:bodyPr/>
          <a:lstStyle/>
          <a:p>
            <a:r>
              <a:t>Überblick: Eine Holzüberdachung ist nicht nur ein Wetterschutz für die Terrasse, sondern einbaufertiges Element der Garten- und Grundstücksplanung. Wer sie rechtzeitig in das Gesamtkonzept einordnet, kann Wege, Bepflanzung, Aufbau und Entwässerung aufeinander abstimmen und spätere Veränderungen vermeiden. Der folgende Leitfaden zeigt, welche Fragen vor der Planung geklärt werden sollten und worauf bei der Einordnung in Berlin besonders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Grundstück als Ganzes betrachten</a:t>
            </a:r>
          </a:p>
        </p:txBody>
      </p:sp>
      <p:sp>
        <p:nvSpPr>
          <p:cNvPr id="3" name="Content Placeholder 2"/>
          <p:cNvSpPr>
            <a:spLocks noGrp="1"/>
          </p:cNvSpPr>
          <p:nvPr>
            <p:ph idx="1"/>
          </p:nvPr>
        </p:nvSpPr>
        <p:spPr/>
        <p:txBody>
          <a:bodyPr/>
          <a:lstStyle/>
          <a:p>
            <a:pPr>
              <a:defRPr sz="1800"/>
            </a:pPr>
            <a:r>
              <a:t>Vor der Festlegung von Maßen, Dachform oder Standort sollte der gesamte Garten betrachtet werden. Entscheidend ist, wo Wege verlaufen, welche Flächen auch bei Regen nutzbar bleiben sollen und wo Bäume oder Sträucher Schatten, Laubfall oder Sichtschutz beeinflussen. Eine Überdachung wirkt auf die räumliche Qualität des Grundstücks ein und lässt sich nach der Errichtung nur schwer versetzen. Deshalb gehört die Frage nach dem Standort zu den ersten Planungsschritten – ebenso wie die Prüfung der Zugänglichkeit vom Haus zur überdachten Fläche. Weitere Hinweise zur Grundstücksplanung können helfen, die Anforderungen strukturiert zu erfassen.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Wege und nutzbare Flächen prüfen</a:t>
            </a:r>
          </a:p>
        </p:txBody>
      </p:sp>
      <p:sp>
        <p:nvSpPr>
          <p:cNvPr id="3" name="Content Placeholder 2"/>
          <p:cNvSpPr>
            <a:spLocks noGrp="1"/>
          </p:cNvSpPr>
          <p:nvPr>
            <p:ph idx="1"/>
          </p:nvPr>
        </p:nvSpPr>
        <p:spPr/>
        <p:txBody>
          <a:bodyPr/>
          <a:lstStyle/>
          <a:p>
            <a:pPr>
              <a:defRPr sz="1800"/>
            </a:pPr>
            <a:r>
              <a:t>Grundsätzlich kommen eine am Haus angeschlossene und eine freistehende Holzüberdachung infrage. Bei der freistehenden Variante werden die Lasten über Pfosten und Fundamente abgetragen. Ihre Position beeinflusst, wie die Fläche darunter genutzt werden kann und ob bestehende Bewegungswege frei bleiben. Auch Seitenelemente müssen so eingeplant werden, dass sie den Zugang nicht versperren. Für die Gestaltung ist es hilfreich, den natürlichen Bewegungsfluss des Gartens nachzuvollziehen: vom Haus zur Terrasse, weiter zu plantsätzlichen oder gärtnerischen Bereichen und zurück. So wird die Überdachung nicht zu einem isolierten Objekt, sondern zu eine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Wege und nutzbare Flächen prüfen</a:t>
            </a:r>
          </a:p>
        </p:txBody>
      </p:sp>
      <p:sp>
        <p:nvSpPr>
          <p:cNvPr id="3" name="Content Placeholder 2"/>
          <p:cNvSpPr>
            <a:spLocks noGrp="1"/>
          </p:cNvSpPr>
          <p:nvPr>
            <p:ph idx="1"/>
          </p:nvPr>
        </p:nvSpPr>
        <p:spPr/>
        <p:txBody>
          <a:bodyPr/>
          <a:lstStyle/>
          <a:p>
            <a:pPr>
              <a:defRPr sz="1800"/>
            </a:pPr>
            <a:r>
              <a:t>m funktionierenden Teil der Gartenstruktur.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Beläge und Anschlüsse abstimmen</a:t>
            </a:r>
          </a:p>
        </p:txBody>
      </p:sp>
      <p:sp>
        <p:nvSpPr>
          <p:cNvPr id="3" name="Content Placeholder 2"/>
          <p:cNvSpPr>
            <a:spLocks noGrp="1"/>
          </p:cNvSpPr>
          <p:nvPr>
            <p:ph idx="1"/>
          </p:nvPr>
        </p:nvSpPr>
        <p:spPr/>
        <p:txBody>
          <a:bodyPr/>
          <a:lstStyle/>
          <a:p>
            <a:pPr>
              <a:defRPr sz="1800"/>
            </a:pPr>
            <a:r>
              <a:t>Ein sichtbarer Terrassenbelag sagt allein nichts über die Tragfähigkeit des Untergrunds und die Möglichkeiten einer Gründung aus. Besonders bei freistehenden Konstruktionen sollte deshalb geklärt werden, wie der Boden aufgebaut ist und ob er die geplanten Pfosten aufnehmen kann. Die Materialwahl sollte anschließend mit dem Terrassenbelag und den umgebenden Wegen harmonieren. Holz lässt sich mit Stein oder anderen neutralen Belägen verbinden; entscheidend sind Proportionen, Übergänge und die Ausführung der Anschlüsse. Wer diese Fragen früh anspricht, kann Material und Konstruktion besser aufeinander abstimmen und spätere Ausbesserungen am Über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Beläge und Anschlüsse abstimmen</a:t>
            </a:r>
          </a:p>
        </p:txBody>
      </p:sp>
      <p:sp>
        <p:nvSpPr>
          <p:cNvPr id="3" name="Content Placeholder 2"/>
          <p:cNvSpPr>
            <a:spLocks noGrp="1"/>
          </p:cNvSpPr>
          <p:nvPr>
            <p:ph idx="1"/>
          </p:nvPr>
        </p:nvSpPr>
        <p:spPr/>
        <p:txBody>
          <a:bodyPr/>
          <a:lstStyle/>
          <a:p>
            <a:pPr>
              <a:defRPr sz="1800"/>
            </a:pPr>
            <a:r>
              <a:t>gang vermeiden.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Raumwirkung, Pflanzen und Regenwasser bedenken</a:t>
            </a:r>
          </a:p>
        </p:txBody>
      </p:sp>
      <p:sp>
        <p:nvSpPr>
          <p:cNvPr id="3" name="Content Placeholder 2"/>
          <p:cNvSpPr>
            <a:spLocks noGrp="1"/>
          </p:cNvSpPr>
          <p:nvPr>
            <p:ph idx="1"/>
          </p:nvPr>
        </p:nvSpPr>
        <p:spPr/>
        <p:txBody>
          <a:bodyPr/>
          <a:lstStyle/>
          <a:p>
            <a:pPr>
              <a:defRPr sz="1800"/>
            </a:pPr>
            <a:r>
              <a:t>Eine Holzüberdachung verändert Blickbeziehungen im Garten. Eine niedrigere Ausführung kann Geborgenheit schaffen, die Sicht auf den Garten jedoch begrenzen; eine höhere Konstruktion lässt mehr Blickbezüge offen, bietet dafür aber nicht denselben Schutz vor seitlichem Wind. Auch vorhandene Pflanzen müssen in die Planung einfließen. Laubfall kann die Reinigung der Dachfläche beeinflussen, während Äste oder zu dicht stehende Vegetation die Nutzung einschränken. Ebenso wichtig ist die Regenwasserableitung: Wohin soll das Wasser geführt werden, und wie verhält sich die Lösung zu vorhandenen Entwässerungswegen? Diese Frage gehört in die Grundstücks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Raumwirkung, Pflanzen und Regenwasser bedenken</a:t>
            </a:r>
          </a:p>
        </p:txBody>
      </p:sp>
      <p:sp>
        <p:nvSpPr>
          <p:cNvPr id="3" name="Content Placeholder 2"/>
          <p:cNvSpPr>
            <a:spLocks noGrp="1"/>
          </p:cNvSpPr>
          <p:nvPr>
            <p:ph idx="1"/>
          </p:nvPr>
        </p:nvSpPr>
        <p:spPr/>
        <p:txBody>
          <a:bodyPr/>
          <a:lstStyle/>
          <a:p>
            <a:pPr>
              <a:defRPr sz="1800"/>
            </a:pPr>
            <a:r>
              <a:t>planung und nicht erst in die Bauausführung.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Planungsfragen vor dem Bau beantworten</a:t>
            </a:r>
          </a:p>
        </p:txBody>
      </p:sp>
      <p:sp>
        <p:nvSpPr>
          <p:cNvPr id="3" name="Content Placeholder 2"/>
          <p:cNvSpPr>
            <a:spLocks noGrp="1"/>
          </p:cNvSpPr>
          <p:nvPr>
            <p:ph idx="1"/>
          </p:nvPr>
        </p:nvSpPr>
        <p:spPr/>
        <p:txBody>
          <a:bodyPr/>
          <a:lstStyle/>
          <a:p>
            <a:pPr>
              <a:defRPr sz="1800"/>
            </a:pPr>
            <a:r>
              <a:t>Für einen belastbaren Start helfen klare Antworten auf einige zentrale Fragen: Wo liegt der gewünschte Standort, und wie ist der Untergrund beschaffen? Welche Wege müssen frei bleiben, und wie erfolgt der Zugang? Welche Blickbezüge sollen erhalten oder neu geschaffen werden? Wie wirkt die Überdachung auf vorhandene Pflanzen und den Laubfall? Wird Regenwasser so abgeleitet, dass es mit dem Grundstück und den vorhandenen Wegen vereinbar ist? Schließlich sollte auch geklärt werden, ob das Vorhaben verfahrensfrei ist oder ob ein Genehmigungsverfahren erforderlich appears. Die weitere Planung in Berlin kann helfen, die nächsten Schritte mit dem ko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Planungsfragen vor dem Bau beantworten</a:t>
            </a:r>
          </a:p>
        </p:txBody>
      </p:sp>
      <p:sp>
        <p:nvSpPr>
          <p:cNvPr id="3" name="Content Placeholder 2"/>
          <p:cNvSpPr>
            <a:spLocks noGrp="1"/>
          </p:cNvSpPr>
          <p:nvPr>
            <p:ph idx="1"/>
          </p:nvPr>
        </p:nvSpPr>
        <p:spPr/>
        <p:txBody>
          <a:bodyPr/>
          <a:lstStyle/>
          <a:p>
            <a:pPr>
              <a:defRPr sz="1800"/>
            </a:pPr>
            <a:r>
              <a:t>nkreten Grundstück und seinen örtlichen Gegebenheiten zu verbinden.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Holzüberdachung in die Gartengestaltung einbetten: Worauf Grundstückseigentümer achten sollten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