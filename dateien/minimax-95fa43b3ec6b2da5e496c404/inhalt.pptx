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ueberdachungberlin/versicherung-haftung-holzueberdachung-wohhaus/" TargetMode="External"/><Relationship Id="rId3" Type="http://schemas.openxmlformats.org/officeDocument/2006/relationships/hyperlink" Target="https://holzundhaus.github.io/holzueberdachungberlin/dateien/minimax-95fa43b3ec6b2da5e496c40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Versicherungen und Haftung bei einer neuen Holzüberdachung am Wohnhaus · Erklärende Präsentation</a:t>
            </a:r>
          </a:p>
        </p:txBody>
      </p:sp>
      <p:sp>
        <p:nvSpPr>
          <p:cNvPr id="3" name="Content Placeholder 2"/>
          <p:cNvSpPr>
            <a:spLocks noGrp="1"/>
          </p:cNvSpPr>
          <p:nvPr>
            <p:ph idx="1"/>
          </p:nvPr>
        </p:nvSpPr>
        <p:spPr/>
        <p:txBody>
          <a:bodyPr/>
          <a:lstStyle/>
          <a:p>
            <a:r>
              <a:t>Überblick: Eine neue Holzüberdachung verändert die bauliche Situation am Wohnhaus und wirft Fragen zu Versicherungsschutz, Haftung und Verkehrssicherung auf. Wer diese Punkte bereits vor der Planung klärt, kann später besser einschätzen, welche Risiken abgesichert sind und welche Pflichten beim Eigentümer liegen. Der folgende Überblick verbindet die wichtigsten Versicherungsbereiche mit konkreten organisatorischen Schritten für Planung, Bau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Versicherungsbereiche prüfen</a:t>
            </a:r>
          </a:p>
        </p:txBody>
      </p:sp>
      <p:sp>
        <p:nvSpPr>
          <p:cNvPr id="3" name="Content Placeholder 2"/>
          <p:cNvSpPr>
            <a:spLocks noGrp="1"/>
          </p:cNvSpPr>
          <p:nvPr>
            <p:ph idx="1"/>
          </p:nvPr>
        </p:nvSpPr>
        <p:spPr/>
        <p:txBody>
          <a:bodyPr/>
          <a:lstStyle/>
          <a:p>
            <a:pPr>
              <a:defRPr sz="1800"/>
            </a:pPr>
            <a:r>
              <a:t>Die Wohngebäudeversicherung schützt das Haus als Gebäude, etwa bei Schäden durch Feuer, Leitungswasser, Sturm oder Hagel. Für eine angeschlossene Holzüberdachung ist wichtig, ob sie als Bestandteil des Gebäudes mitversichert ist. Die Antwort hängt vom konkreten Vertrag ab. Bei der Rückfrage sollten Bauart, Anbindung an der Fassade, Fläche und geplante Dachdeckung angegeben werden. Die Elementarschadensversicherung kann weitere Gefahren wie Überschwemmung, Starkregen, Schneedruck oder Erdrutsch abdecken. Für eine Überdachung kann insbesondere die geplante Schneelast relevant werden. Auch hier sind zugeschlossene Gefahren, Selbstbeteiligungen 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Versicherungsbereiche prüfen</a:t>
            </a:r>
          </a:p>
        </p:txBody>
      </p:sp>
      <p:sp>
        <p:nvSpPr>
          <p:cNvPr id="3" name="Content Placeholder 2"/>
          <p:cNvSpPr>
            <a:spLocks noGrp="1"/>
          </p:cNvSpPr>
          <p:nvPr>
            <p:ph idx="1"/>
          </p:nvPr>
        </p:nvSpPr>
        <p:spPr/>
        <p:txBody>
          <a:bodyPr/>
          <a:lstStyle/>
          <a:p>
            <a:pPr>
              <a:defRPr sz="1800"/>
            </a:pPr>
            <a:r>
              <a:t>nd mögliche Erweiterungen im jeweiligen Vertrag zu prüfen.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Haftpflicht und Bauphase abdecken</a:t>
            </a:r>
          </a:p>
        </p:txBody>
      </p:sp>
      <p:sp>
        <p:nvSpPr>
          <p:cNvPr id="3" name="Content Placeholder 2"/>
          <p:cNvSpPr>
            <a:spLocks noGrp="1"/>
          </p:cNvSpPr>
          <p:nvPr>
            <p:ph idx="1"/>
          </p:nvPr>
        </p:nvSpPr>
        <p:spPr/>
        <p:txBody>
          <a:bodyPr/>
          <a:lstStyle/>
          <a:p>
            <a:pPr>
              <a:defRPr sz="1800"/>
            </a:pPr>
            <a:r>
              <a:t>Die private oder Grundstücks-Haftpflicht greift, wenn Dritte geschädigt werden. Für eine Holzüberdachung können beispielsweise herabfallende Teile, Eisbildung an der Dachkante, rutschige Beläge oder Pfosten in Wegen und Zufahrten relevant werden. Zu prüfen sind die ausreichende Versicherungssumme für Personen- und Sachschäden sowie die Einschaltung von Bauwerken auf dem Grundstück. Während der Bauphase kann eine separate Bauherrenhaftpflicht sinnvoll sein, weil in dieser Zeit ein erhöhtes Risiko besteht. Vertragsunterlagen und die Kommunikation mit dem Versicherer sollten diese Punkte schriftlich erfassen.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Verkehrssicherung und Winterbetrieb</a:t>
            </a:r>
          </a:p>
        </p:txBody>
      </p:sp>
      <p:sp>
        <p:nvSpPr>
          <p:cNvPr id="3" name="Content Placeholder 2"/>
          <p:cNvSpPr>
            <a:spLocks noGrp="1"/>
          </p:cNvSpPr>
          <p:nvPr>
            <p:ph idx="1"/>
          </p:nvPr>
        </p:nvSpPr>
        <p:spPr/>
        <p:txBody>
          <a:bodyPr/>
          <a:lstStyle/>
          <a:p>
            <a:pPr>
              <a:defRPr sz="1800"/>
            </a:pPr>
            <a:r>
              <a:t>Eigentümerinnen und Eigentümer tragen die Verantwortung dafür, dass von der Überdachung keine Gefahr ausgeht. Dazu gehört ein regelmäßiger Winterdienst: Schnee muss so geräumt werden, dass er nicht als Lawine vom Dach rutscht. Eiszapfen an der Traufkante sind zu entfernen, wenn Wege darunter liegen. Freistehende Pfosten an Gehwegen, Einfahrten oder an der Grundstücksgrenze lassen sich durch sichtbare Abgrenzungen, Reflektoren oder Poller besser erkennen. Auch die Entwässerung muss geplant sein. Tropfwasser darf nicht auf öffentliche Gehwege oder das Nachbargrundstück geleitet werden, da dadurch Haftungsfragen entstehen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Deckung und Fundamente</a:t>
            </a:r>
          </a:p>
        </p:txBody>
      </p:sp>
      <p:sp>
        <p:nvSpPr>
          <p:cNvPr id="3" name="Content Placeholder 2"/>
          <p:cNvSpPr>
            <a:spLocks noGrp="1"/>
          </p:cNvSpPr>
          <p:nvPr>
            <p:ph idx="1"/>
          </p:nvPr>
        </p:nvSpPr>
        <p:spPr/>
        <p:txBody>
          <a:bodyPr/>
          <a:lstStyle/>
          <a:p>
            <a:pPr>
              <a:defRPr sz="1800"/>
            </a:pPr>
            <a:r>
              <a:t>Eine Holzüberdachung greift in bestehende Bauteile ein. Befestigungen an der Fassade, Schrauben, Dübel und Abdichtungen sollten dokumentiert werden, damit im Schadensfall nachvollziehbar bleibt, was verändert wurde. Die Dachdeckung beeinflusst die Risiken: Transparente Platten, Glas und geschlossene Deckungen verhalten sich bei Hagel und Sturm unterschiedlich. Auch Regenrinne und Fallrohr verändern die Wasserführung am Haus und müssen passend ausgeführt werden. Fundamente berühren den Untergrund; bei nicht fachgerechter Verdichtung kann eine Beeinträchtigung des Erdreichs relevant werden. Planungsunterlagen, Materialnachweise, Abnahmeprotokol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Deckung und Fundamente</a:t>
            </a:r>
          </a:p>
        </p:txBody>
      </p:sp>
      <p:sp>
        <p:nvSpPr>
          <p:cNvPr id="3" name="Content Placeholder 2"/>
          <p:cNvSpPr>
            <a:spLocks noGrp="1"/>
          </p:cNvSpPr>
          <p:nvPr>
            <p:ph idx="1"/>
          </p:nvPr>
        </p:nvSpPr>
        <p:spPr/>
        <p:txBody>
          <a:bodyPr/>
          <a:lstStyle/>
          <a:p>
            <a:pPr>
              <a:defRPr sz="1800"/>
            </a:pPr>
            <a:r>
              <a:t>l und Fotos bilden daher eine sinnvolle Dokumentationsgrundlage.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Bau und während der Nutzung</a:t>
            </a:r>
          </a:p>
        </p:txBody>
      </p:sp>
      <p:sp>
        <p:nvSpPr>
          <p:cNvPr id="3" name="Content Placeholder 2"/>
          <p:cNvSpPr>
            <a:spLocks noGrp="1"/>
          </p:cNvSpPr>
          <p:nvPr>
            <p:ph idx="1"/>
          </p:nvPr>
        </p:nvSpPr>
        <p:spPr/>
        <p:txBody>
          <a:bodyPr/>
          <a:lstStyle/>
          <a:p>
            <a:pPr>
              <a:defRPr sz="1800"/>
            </a:pPr>
            <a:r>
              <a:t>Zu einem strukturierten Ablauf gehören das Sammeln der bestehenden Wohngebäude-, Elementar- und Haftpflichtpolicen, eine schriftliche Klärung des Versicherungsschutzes und das gezielte Schließen erkannter Lücken. Ein Wartungsplan kann regelmäßige Kontrollen der Anschlüsse, die Reinigung der Rinne, Schneeräumung und die Beseitigung von Eis vorsehen. So werden die Anforderungen nicht erst im Schadensfall relevant. Für die vertiefte Einordnung der Versicherungs- und Haftungsfragen bietet sich die Übersicht [Versicherungen und Haftung bei einer neuen Holzüberdachung] an. Ergänzend erklärt der Beitrag [Regenwasser von Carport und Terrassenüberdach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Bau und während der Nutzung</a:t>
            </a:r>
          </a:p>
        </p:txBody>
      </p:sp>
      <p:sp>
        <p:nvSpPr>
          <p:cNvPr id="3" name="Content Placeholder 2"/>
          <p:cNvSpPr>
            <a:spLocks noGrp="1"/>
          </p:cNvSpPr>
          <p:nvPr>
            <p:ph idx="1"/>
          </p:nvPr>
        </p:nvSpPr>
        <p:spPr/>
        <p:txBody>
          <a:bodyPr/>
          <a:lstStyle/>
          <a:p>
            <a:pPr>
              <a:defRPr sz="1800"/>
            </a:pPr>
            <a:r>
              <a:t>ung richtig führen], worauf es bei der Wasserführung und der zugehörigen Anfrage ankommt.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Versicherungen und Haftung bei einer neuen Holzüberdachung am Wohnhaus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