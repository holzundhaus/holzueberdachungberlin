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ueberdachungberlin/nachhaltige-holzherkunft-und-zertifikate-fuer-ueberdachungen/" TargetMode="External"/><Relationship Id="rId3" Type="http://schemas.openxmlformats.org/officeDocument/2006/relationships/hyperlink" Target="https://holzundhaus.github.io/holzueberdachungberlin/dateien/minimax-770230208f215aaa1034753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Nachhaltige Holzherkunft und Zertifikate: Worauf man bei einer Überdachung achten kann · Erklärende Präsentation</a:t>
            </a:r>
          </a:p>
        </p:txBody>
      </p:sp>
      <p:sp>
        <p:nvSpPr>
          <p:cNvPr id="3" name="Content Placeholder 2"/>
          <p:cNvSpPr>
            <a:spLocks noGrp="1"/>
          </p:cNvSpPr>
          <p:nvPr>
            <p:ph idx="1"/>
          </p:nvPr>
        </p:nvSpPr>
        <p:spPr/>
        <p:txBody>
          <a:bodyPr/>
          <a:lstStyle/>
          <a:p>
            <a:r>
              <a:t>Überblick: Ein FSC- oder PEFC-Siegel beantwortet nicht automatisch alle Fragen zu einer Holzüberdachung. Die Siegel belegen eine zertifizierte Bewirtschaftung und nachvollziehbare Lieferketten, während Holzart, Trocknung, Sortierung und konstruktiver Holzschutz über die technische Eignung entscheiden. Wer beide Aspekte gemeinsam prüft, kann Nachhaltigkeit transparent einordnen und das Risiko vermeiden, dass ein gut dokumentiertes Holz trotzdem ungeeignet für den Außeneinsatz ist. Der folgende Leitfaden zeigt, welche Angaben bei der Anfrage sinnvoll sind und wie Herkunftsnachweise mit den Anforderungen des konkreten Projekts abgeglichen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Waldsiegel über das Holz tatsächlich belegt</a:t>
            </a:r>
          </a:p>
        </p:txBody>
      </p:sp>
      <p:sp>
        <p:nvSpPr>
          <p:cNvPr id="3" name="Content Placeholder 2"/>
          <p:cNvSpPr>
            <a:spLocks noGrp="1"/>
          </p:cNvSpPr>
          <p:nvPr>
            <p:ph idx="1"/>
          </p:nvPr>
        </p:nvSpPr>
        <p:spPr/>
        <p:txBody>
          <a:bodyPr/>
          <a:lstStyle/>
          <a:p>
            <a:pPr>
              <a:defRPr sz="1800"/>
            </a:pPr>
            <a:r>
              <a:t>FSC und PEFC stehen für unterschiedliche Zertifizierungssysteme, haben aber eine ähnliche Grundidee: Wälder sollen ökologisch, sozial und wirtschaftlich verantwortungsvoll bewirtschaftet werden. Ein entsprechendes Siegel weist darauf hin, dass das Holz aus zertifiziert bewirtschafteten Wäldern stammt und seine Lieferkette bis zum Händler kontrolliert ist. Damit verbunden sind unter anderem Regelungen zu Rückverfolgbarkeit, Arbeitsbedingungen, Arten- und Naturschutz sowie legalem Einschlag. Die Systeme unterscheiden sich in Organisation, Standardentwicklung und regionalem Schwerpunkt. Für die Praxis bedeutet das nicht, dass eines grundsätzlich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Waldsiegel über das Holz tatsächlich belegt</a:t>
            </a:r>
          </a:p>
        </p:txBody>
      </p:sp>
      <p:sp>
        <p:nvSpPr>
          <p:cNvPr id="3" name="Content Placeholder 2"/>
          <p:cNvSpPr>
            <a:spLocks noGrp="1"/>
          </p:cNvSpPr>
          <p:nvPr>
            <p:ph idx="1"/>
          </p:nvPr>
        </p:nvSpPr>
        <p:spPr/>
        <p:txBody>
          <a:bodyPr/>
          <a:lstStyle/>
          <a:p>
            <a:pPr>
              <a:defRPr sz="1800"/>
            </a:pPr>
            <a:r>
              <a:t> besser ist. Entscheidend ist, ob der Nachweis für das konkret angebotene Produkt vorliegt und nachvollziehbar zugeordnet werden kann. Weitere Informationen bietet der Ratgeber [zur nachhaltigen Holzherkunft und zu Zertifikaten](https://holzundhaus.github.io/holzueberdachungberlin/nachhaltige-holzherkunft-und-zertifikate-fuer-ueberdachungen/).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Nachhaltigkeit nicht die technische Prüfung ersetzt</a:t>
            </a:r>
          </a:p>
        </p:txBody>
      </p:sp>
      <p:sp>
        <p:nvSpPr>
          <p:cNvPr id="3" name="Content Placeholder 2"/>
          <p:cNvSpPr>
            <a:spLocks noGrp="1"/>
          </p:cNvSpPr>
          <p:nvPr>
            <p:ph idx="1"/>
          </p:nvPr>
        </p:nvSpPr>
        <p:spPr/>
        <p:txBody>
          <a:bodyPr/>
          <a:lstStyle/>
          <a:p>
            <a:pPr>
              <a:defRPr sz="1800"/>
            </a:pPr>
            <a:r>
              <a:t>Holz ist ein nachwachsender Rohstoff, doch seine Eignung für eine Überdachung ergibt sich nicht allein aus der Herkunft. Eine dauerhafte Außenkonstruktion muss den Beanspruchungen durch Sonne, Regen und Wind standhalten. Deshalb gehören neben Herkunftsnachweisen auch die Holzart, die konkrete Sortierung, die Trocknung und die Eignung für den Außeneinsatz in die Bewertung. Ebenso wichtig sind konstruktive Details: Wasserführung, Holzschutz, Oberflächenbehandlung sowie spätere Pflege und Wartung. Ein zertifiziertes Bauteil kann technisch ungeeignet sein; umgekehrt verbessert eine passende Konstruktion nicht automatisch die Nachhaltigkeit. Beide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Nachhaltigkeit nicht die technische Prüfung ersetzt</a:t>
            </a:r>
          </a:p>
        </p:txBody>
      </p:sp>
      <p:sp>
        <p:nvSpPr>
          <p:cNvPr id="3" name="Content Placeholder 2"/>
          <p:cNvSpPr>
            <a:spLocks noGrp="1"/>
          </p:cNvSpPr>
          <p:nvPr>
            <p:ph idx="1"/>
          </p:nvPr>
        </p:nvSpPr>
        <p:spPr/>
        <p:txBody>
          <a:bodyPr/>
          <a:lstStyle/>
          <a:p>
            <a:pPr>
              <a:defRPr sz="1800"/>
            </a:pPr>
            <a:r>
              <a:t> Prüfungen sollten deshalb getrennt erfolgen und anschließend zusammengeführt werden. Die [Material- und Planungsübersicht zur Holzüberdachung](https://www.holzueberdachungberlin.de/ratgeber/holzueberdachung-material-planung/) ergänzt die Nachhaltigkeitsfrage um die konkreten Anforderungen an Material und Aufbau.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in die Anfrage gehören</a:t>
            </a:r>
          </a:p>
        </p:txBody>
      </p:sp>
      <p:sp>
        <p:nvSpPr>
          <p:cNvPr id="3" name="Content Placeholder 2"/>
          <p:cNvSpPr>
            <a:spLocks noGrp="1"/>
          </p:cNvSpPr>
          <p:nvPr>
            <p:ph idx="1"/>
          </p:nvPr>
        </p:nvSpPr>
        <p:spPr/>
        <p:txBody>
          <a:bodyPr/>
          <a:lstStyle/>
          <a:p>
            <a:pPr>
              <a:defRPr sz="1800"/>
            </a:pPr>
            <a:r>
              <a:t>Die Herkunft lässt sich am besten bereits in der Vor- und Angebotsphase klären. Sinnvolle Fragen sind: Welche Holzarten stehen zur Auswahl und aus welcher Region stammen sie typischerweise? Liegen FSC-, PEFC- oder vergleichbare Nachweise für genau diese Produkte vor? Ist die Lieferkette bis zum Händler nachvollziehbar? Werden Zertifikatsnummern, Lieferkettenpartner oder weitere Dokumente auf Anfrage genannt? Auch die Frage nach der Einordnung in die europäische beziehungsweise außereuropäische Forstwirtschaft kann helfen, das Angebot genauer einzuordnen. Wichtig ist außerdem, dass die Angaben im Angebot und später in der Rechnung eindeutig zu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in die Anfrage gehören</a:t>
            </a:r>
          </a:p>
        </p:txBody>
      </p:sp>
      <p:sp>
        <p:nvSpPr>
          <p:cNvPr id="3" name="Content Placeholder 2"/>
          <p:cNvSpPr>
            <a:spLocks noGrp="1"/>
          </p:cNvSpPr>
          <p:nvPr>
            <p:ph idx="1"/>
          </p:nvPr>
        </p:nvSpPr>
        <p:spPr/>
        <p:txBody>
          <a:bodyPr/>
          <a:lstStyle/>
          <a:p>
            <a:pPr>
              <a:defRPr sz="1800"/>
            </a:pPr>
            <a:r>
              <a:t>geordnet werden können. So bleibt erkennbar, welcher Nachweis sich auf welches Holz und welche Materialkomponente bezieht. Eine belastbare Rückmeldung ermöglicht zudem einen direkten Vergleich zwischen verschiedenen Angeboten.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Nachweise richtig einordnen</a:t>
            </a:r>
          </a:p>
        </p:txBody>
      </p:sp>
      <p:sp>
        <p:nvSpPr>
          <p:cNvPr id="3" name="Content Placeholder 2"/>
          <p:cNvSpPr>
            <a:spLocks noGrp="1"/>
          </p:cNvSpPr>
          <p:nvPr>
            <p:ph idx="1"/>
          </p:nvPr>
        </p:nvSpPr>
        <p:spPr/>
        <p:txBody>
          <a:bodyPr/>
          <a:lstStyle/>
          <a:p>
            <a:pPr>
              <a:defRPr sz="1800"/>
            </a:pPr>
            <a:r>
              <a:t>Neben FSC und PEFC können weitere Nachweise relevant sein. Die EU-Holzhandelsverordnung verpflichtet Händler in der EU, die Legalität des eingeschlagenen Holzes nachvollziehbar zu dokumentieren; dieser Nachweis beantwortet jedoch nicht automatisch Fragen zur Dauerhaftigkeit oder technischen Eignung. Länder- und Regionsnachweise können auf eine heimische Forstwirtschaft oder kurze Transportwege hinweisen. Sortier- und Gütezeichen ergänzen die Herkunftsangaben um Angaben zu Festigkeit, Erscheinungsbild oder Holzfeuchte. Keiner dieser Belege ersetzt die übrigen. Sinnvoll ist deshalb eine Checkliste: Zertifizierung, Herkunft, Rückverfolgbarkeit 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Nachweise richtig einordnen</a:t>
            </a:r>
          </a:p>
        </p:txBody>
      </p:sp>
      <p:sp>
        <p:nvSpPr>
          <p:cNvPr id="3" name="Content Placeholder 2"/>
          <p:cNvSpPr>
            <a:spLocks noGrp="1"/>
          </p:cNvSpPr>
          <p:nvPr>
            <p:ph idx="1"/>
          </p:nvPr>
        </p:nvSpPr>
        <p:spPr/>
        <p:txBody>
          <a:bodyPr/>
          <a:lstStyle/>
          <a:p>
            <a:pPr>
              <a:defRPr sz="1800"/>
            </a:pPr>
            <a:r>
              <a:t>nd technische Eigenschaften getrennt prüfen und erst danach eine gemeinsame Entscheidung treffen. Auch die Frage, wie Nachweise aktuell zugeordnet und aufbewahrt werden, gehört in diese Prüfung.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Auswahl bis zur langfristigen Nutzung</a:t>
            </a:r>
          </a:p>
        </p:txBody>
      </p:sp>
      <p:sp>
        <p:nvSpPr>
          <p:cNvPr id="3" name="Content Placeholder 2"/>
          <p:cNvSpPr>
            <a:spLocks noGrp="1"/>
          </p:cNvSpPr>
          <p:nvPr>
            <p:ph idx="1"/>
          </p:nvPr>
        </p:nvSpPr>
        <p:spPr/>
        <p:txBody>
          <a:bodyPr/>
          <a:lstStyle/>
          <a:p>
            <a:pPr>
              <a:defRPr sz="1800"/>
            </a:pPr>
            <a:r>
              <a:t>Eine verantwortungsvolle Materialwahl endet nicht beim Siegel. Nach der Auswahl bestimmt die konstruktive Umsetzung, wie gut Wasser abgeführt wird, wie Holzteile vor Feuchte geschützt sind und welche Pflegeintervalle eingehalten werden. Diese Punkte beeinflussen, wie lange die Konstruktion genutzt werden kann und wann Material ersetzt werden muss. Für die Anfrage bedeutet das: Neben Herkunft und Zertifizierung sollten auch Holzart, Ausführung, Oberflächenschutz, Wasserführung sowie vereinbarte Pflege- und Wartungshinweise beschrieben werden. Fachliche Details müssen dabei mit dem ausführenden Betrieb abgestimmt werden. So verbindet die Planun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Von der Auswahl bis zur langfristigen Nutzung</a:t>
            </a:r>
          </a:p>
        </p:txBody>
      </p:sp>
      <p:sp>
        <p:nvSpPr>
          <p:cNvPr id="3" name="Content Placeholder 2"/>
          <p:cNvSpPr>
            <a:spLocks noGrp="1"/>
          </p:cNvSpPr>
          <p:nvPr>
            <p:ph idx="1"/>
          </p:nvPr>
        </p:nvSpPr>
        <p:spPr/>
        <p:txBody>
          <a:bodyPr/>
          <a:lstStyle/>
          <a:p>
            <a:pPr>
              <a:defRPr sz="1800"/>
            </a:pPr>
            <a:r>
              <a:t>g belegte nachhaltige Herkunft mit einer technisch passenden Überdachung und schafft eine Grundlage, auf der sich Nutzerinnen und Nutzer über Jahrzehnte verlässlich beziehen können.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Nachhaltige Holzherkunft und Zertifikate: Worauf man bei einer Überdachung achten kann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