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eberdachungberlin.blogspot.com/2026/10/lastannahmen-fur-eine-holzuberdachung.html" TargetMode="External"/><Relationship Id="rId3" Type="http://schemas.openxmlformats.org/officeDocument/2006/relationships/hyperlink" Target="https://holzundhaus.github.io/holzueberdachungberlin/dateien/minimax-659e6acd603331f6f4ff1009/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Lastannahmen für eine Holzüberdachung in Berlin: Eigenlast, Schnee, Wind und was daraus folgt · Erklärende Präsentation</a:t>
            </a:r>
          </a:p>
        </p:txBody>
      </p:sp>
      <p:sp>
        <p:nvSpPr>
          <p:cNvPr id="3" name="Content Placeholder 2"/>
          <p:cNvSpPr>
            <a:spLocks noGrp="1"/>
          </p:cNvSpPr>
          <p:nvPr>
            <p:ph idx="1"/>
          </p:nvPr>
        </p:nvSpPr>
        <p:spPr/>
        <p:txBody>
          <a:bodyPr/>
          <a:lstStyle/>
          <a:p>
            <a:r>
              <a:t>Überblick: Eine Holzüberdachung wirkt schnell wie eine einfache Rahmenkonstruktion, belastet Pfosten, Träger und Sparren jedoch gleichzeitig mit ständigen Lasten, kurzzeitigen Nutzungen sowie Schnee und Wind. Der verlinkte Fachbeitrag zur Satelliten-Quelle ordnet diese Einwirkungen ein und zeigt, warum aus einer überschaubaren Planung eine belastbare Bemessung wird. Wer vor der Anfrage die wichtigsten Angaben sortiert, erleichtert die standortbezogene Prüfung und vermeidet Constructionen, die erst nachträglich angepasst werden müssen.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Lastarten wirken gleichzeitig auf die Überdachung?</a:t>
            </a:r>
          </a:p>
        </p:txBody>
      </p:sp>
      <p:sp>
        <p:nvSpPr>
          <p:cNvPr id="3" name="Content Placeholder 2"/>
          <p:cNvSpPr>
            <a:spLocks noGrp="1"/>
          </p:cNvSpPr>
          <p:nvPr>
            <p:ph idx="1"/>
          </p:nvPr>
        </p:nvSpPr>
        <p:spPr/>
        <p:txBody>
          <a:bodyPr/>
          <a:lstStyle/>
          <a:p>
            <a:pPr>
              <a:defRPr sz="1800"/>
            </a:pPr>
            <a:r>
              <a:t>Für die Beurteilung einer Holzüberdachung werden die Lastarten getrennt betrachtet und anschließend in sinnvollen Kombinationen zusammengeführt. Die Eigenlast umfasst das Gewicht von Holz, Dachdeckung, Unterkonstruktion und ergänzenden Aufbauten. Nutzlasten entstehen beispielsweise durch Wartung, Reinigung oder das Anbringen von Sichtschutz und Markisen. Schnee und Wind wirken als Umwelteinwirkungen. Diese Trennung ist wichtig, weil jede Gruppe einen anderen Einfluss auf Querschnitte, Verbindungen und Aussteifungen haben kann. Pauschale Standardmaße aus einem Katalog berücksichtigen nicht automatisch jede verwendete Deckung und jede geplante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Lastarten wirken gleichzeitig auf die Überdachung?</a:t>
            </a:r>
          </a:p>
        </p:txBody>
      </p:sp>
      <p:sp>
        <p:nvSpPr>
          <p:cNvPr id="3" name="Content Placeholder 2"/>
          <p:cNvSpPr>
            <a:spLocks noGrp="1"/>
          </p:cNvSpPr>
          <p:nvPr>
            <p:ph idx="1"/>
          </p:nvPr>
        </p:nvSpPr>
        <p:spPr/>
        <p:txBody>
          <a:bodyPr/>
          <a:lstStyle/>
          <a:p>
            <a:pPr>
              <a:defRPr sz="1800"/>
            </a:pPr>
            <a:r>
              <a:t>Zusatzlast.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Eigenlast und Nutzung: Nicht nur das Holz zählt</a:t>
            </a:r>
          </a:p>
        </p:txBody>
      </p:sp>
      <p:sp>
        <p:nvSpPr>
          <p:cNvPr id="3" name="Content Placeholder 2"/>
          <p:cNvSpPr>
            <a:spLocks noGrp="1"/>
          </p:cNvSpPr>
          <p:nvPr>
            <p:ph idx="1"/>
          </p:nvPr>
        </p:nvSpPr>
        <p:spPr/>
        <p:txBody>
          <a:bodyPr/>
          <a:lstStyle/>
          <a:p>
            <a:pPr>
              <a:defRPr sz="1800"/>
            </a:pPr>
            <a:r>
              <a:t>Die ständige Last beginnt beim Holzrahmen, wird aber durch die gewählte Eindeckung deutlich verändert. Transparente oder transluzente Deckungen können leichter sein als geschlossene Beläge wie Bitumen oder Schindeln. Latten, Konterlatten, Entwässerung und weitere Aufbauten kommen zusätzlich hinzu. Schon eine größere Flächenlast kann die erforderliche Sparrenstärke beeinflussen. Auch die Nutzung sollte konkret beschrieben werden: Eine regelmäßig zu reinigende Dachfläche oder eine später ergänzte Markise ist etwas anderes als eine dauerhaft begehbare Fläche. Diese Angaben gehören deshalb in die Anfrage, damit die Bemessung nicht nur den sichtba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Eigenlast und Nutzung: Nicht nur das Holz zählt</a:t>
            </a:r>
          </a:p>
        </p:txBody>
      </p:sp>
      <p:sp>
        <p:nvSpPr>
          <p:cNvPr id="3" name="Content Placeholder 2"/>
          <p:cNvSpPr>
            <a:spLocks noGrp="1"/>
          </p:cNvSpPr>
          <p:nvPr>
            <p:ph idx="1"/>
          </p:nvPr>
        </p:nvSpPr>
        <p:spPr/>
        <p:txBody>
          <a:bodyPr/>
          <a:lstStyle/>
          <a:p>
            <a:pPr>
              <a:defRPr sz="1800"/>
            </a:pPr>
            <a:r>
              <a:t>ren Grundzustand berücksichtigt.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Schnee: Standort, Dachform und Höhenlage</a:t>
            </a:r>
          </a:p>
        </p:txBody>
      </p:sp>
      <p:sp>
        <p:nvSpPr>
          <p:cNvPr id="3" name="Content Placeholder 2"/>
          <p:cNvSpPr>
            <a:spLocks noGrp="1"/>
          </p:cNvSpPr>
          <p:nvPr>
            <p:ph idx="1"/>
          </p:nvPr>
        </p:nvSpPr>
        <p:spPr/>
        <p:txBody>
          <a:bodyPr/>
          <a:lstStyle/>
          <a:p>
            <a:pPr>
              <a:defRPr sz="1800"/>
            </a:pPr>
            <a:r>
              <a:t>Bei der Schneelast spielen die maßgebliche Zone, die Geländehöhe und die Lage des Grundstücks eine wichtige Rolle. Die genaue Einordnung ist standortbezogen vorzunehmen; ein allgemeiner Berlin-Wert reicht nicht als alleinige Grundlage. Die Dachform beeinflusst außerdem, wo sich Schnee sammelt oder verweht werden kann. Sattel- und Pultdächer, flache Dachflächen, Aufsätze und aneinander gereigte Überdachungen können daher unterschiedliche Beanspruchungen erzeugen. Besonders relevant ist die Frage, ob ein Grundstück in einer geschlossenen Bebauung, an einer Ecke oder neben höheren baulichen Anlagen liegt. Diese Angaben sollten bereits bei der 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Schnee: Standort, Dachform und Höhenlage</a:t>
            </a:r>
          </a:p>
        </p:txBody>
      </p:sp>
      <p:sp>
        <p:nvSpPr>
          <p:cNvPr id="3" name="Content Placeholder 2"/>
          <p:cNvSpPr>
            <a:spLocks noGrp="1"/>
          </p:cNvSpPr>
          <p:nvPr>
            <p:ph idx="1"/>
          </p:nvPr>
        </p:nvSpPr>
        <p:spPr/>
        <p:txBody>
          <a:bodyPr/>
          <a:lstStyle/>
          <a:p>
            <a:pPr>
              <a:defRPr sz="1800"/>
            </a:pPr>
            <a:r>
              <a:t>sten Planung vorliegen.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Wind: Druck, Sog und die Verbindung zum Fundament</a:t>
            </a:r>
          </a:p>
        </p:txBody>
      </p:sp>
      <p:sp>
        <p:nvSpPr>
          <p:cNvPr id="3" name="Content Placeholder 2"/>
          <p:cNvSpPr>
            <a:spLocks noGrp="1"/>
          </p:cNvSpPr>
          <p:nvPr>
            <p:ph idx="1"/>
          </p:nvPr>
        </p:nvSpPr>
        <p:spPr/>
        <p:txBody>
          <a:bodyPr/>
          <a:lstStyle/>
          <a:p>
            <a:pPr>
              <a:defRPr sz="1800"/>
            </a:pPr>
            <a:r>
              <a:t>Wind belastet eine Überdachung nicht nur von oben. Auf der dem Wind zugewandten Seite entsteht Druck, auf der anderen Seite kann Sog die Dachfläche anheben. Die anzusetzenden Werte hängen unter anderem von der Windzone, der Geländekategorie und der Höhe der Konstruktion über dem Gelände ab. Deshalb ist bei freistehenden Überdachungen häufig nicht allein der Sparren entscheidend: Auch Pfosten, Fundament und Pfostenanker müssen abhebende Kräfte sicher aufnehmen. Für die Verbindungsmittel bedeutet das, dass Anzahl, Durchmesser und Anordnung nicht isoliert festgelegt werden können. Die Aussteifung, etwa durch Kopfbänder oder Diagonalen, gehört eb</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Wind: Druck, Sog und die Verbindung zum Fundament</a:t>
            </a:r>
          </a:p>
        </p:txBody>
      </p:sp>
      <p:sp>
        <p:nvSpPr>
          <p:cNvPr id="3" name="Content Placeholder 2"/>
          <p:cNvSpPr>
            <a:spLocks noGrp="1"/>
          </p:cNvSpPr>
          <p:nvPr>
            <p:ph idx="1"/>
          </p:nvPr>
        </p:nvSpPr>
        <p:spPr/>
        <p:txBody>
          <a:bodyPr/>
          <a:lstStyle/>
          <a:p>
            <a:pPr>
              <a:defRPr sz="1800"/>
            </a:pPr>
            <a:r>
              <a:t>enfalls zur Gesamtlösung.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vor der Anfrage feststeht – und was fachlich geprüft werden muss</a:t>
            </a:r>
          </a:p>
        </p:txBody>
      </p:sp>
      <p:sp>
        <p:nvSpPr>
          <p:cNvPr id="3" name="Content Placeholder 2"/>
          <p:cNvSpPr>
            <a:spLocks noGrp="1"/>
          </p:cNvSpPr>
          <p:nvPr>
            <p:ph idx="1"/>
          </p:nvPr>
        </p:nvSpPr>
        <p:spPr/>
        <p:txBody>
          <a:bodyPr/>
          <a:lstStyle/>
          <a:p>
            <a:pPr>
              <a:defRPr sz="1800"/>
            </a:pPr>
            <a:r>
              <a:t>Für das erste Gespräch lassen sich Adresse, ungefähre Abmessungen, Dachform, gewünschtes Gefälle, Art der Dachdeckung sowie die Frage nach Wandanschluss oder freistehender Konstruktion zusammenstellen. Geplante Markisen, Sichtschutz oder eine spätere Bepflanzung im Randbereich sollten ebenfalls genannt werden. Mit diesen Angaben kann der Fachbetrieb die Lastannahmen genauer zuordnen und die gewählten Querschnitte sowie Verbindungsmittel nachvollziehbar begründen. Die eigentliche Statik bleibt Aufgabe der fachlichen Planung. Der Mehrwert dieses Ablaufs liegt darin, die entscheidenden Randbedingungen früh zu erfassen und die Planung nicht allei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vor der Anfrage feststeht – und was fachlich geprüft werden muss</a:t>
            </a:r>
          </a:p>
        </p:txBody>
      </p:sp>
      <p:sp>
        <p:nvSpPr>
          <p:cNvPr id="3" name="Content Placeholder 2"/>
          <p:cNvSpPr>
            <a:spLocks noGrp="1"/>
          </p:cNvSpPr>
          <p:nvPr>
            <p:ph idx="1"/>
          </p:nvPr>
        </p:nvSpPr>
        <p:spPr/>
        <p:txBody>
          <a:bodyPr/>
          <a:lstStyle/>
          <a:p>
            <a:pPr>
              <a:defRPr sz="1800"/>
            </a:pPr>
            <a:r>
              <a:t>n nach dem sichtbaren Erscheinungsbild zu beurteilen.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Lastannahmen für eine Holzüberdachung in Berlin: Eigenlast, Schnee, Wind und was daraus folgt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