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ueberdachungberlin/holzueberdachung-pflege-wartung-jahresverlauf/" TargetMode="External"/><Relationship Id="rId3" Type="http://schemas.openxmlformats.org/officeDocument/2006/relationships/hyperlink" Target="https://holzundhaus.github.io/holzueberdachungberlin/dateien/minimax-e47422bd74380906b83edc7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Jahrespflege einer Holzüberdachung: Wartungsarbeiten nach Bauteil und Saison · Erklärende Präsentation</a:t>
            </a:r>
          </a:p>
        </p:txBody>
      </p:sp>
      <p:sp>
        <p:nvSpPr>
          <p:cNvPr id="3" name="Content Placeholder 2"/>
          <p:cNvSpPr>
            <a:spLocks noGrp="1"/>
          </p:cNvSpPr>
          <p:nvPr>
            <p:ph idx="1"/>
          </p:nvPr>
        </p:nvSpPr>
        <p:spPr/>
        <p:txBody>
          <a:bodyPr/>
          <a:lstStyle/>
          <a:p>
            <a:r>
              <a:t>Überblick: Wer eine Holzüberdachung langfristig nutzen möchte, sollte nicht auf einen pauschalen „Einmal-im-Jahr“-Termin setzen. Entscheidend sind Produkt, Oberflächenbehandlung, Bauweise und die Belastung durch Wind, Regen, Sonne und Frost. Der folgende Leitfaden strukturiert die Kontrollen nach Bauteil und Jahreszeit und greift die zentralen Punkte aus dem Ratgeber zur Jahrespflege einer Holzüberdachung auf.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 beginnt mit konstruktiver Entwässerung</a:t>
            </a:r>
          </a:p>
        </p:txBody>
      </p:sp>
      <p:sp>
        <p:nvSpPr>
          <p:cNvPr id="3" name="Content Placeholder 2"/>
          <p:cNvSpPr>
            <a:spLocks noGrp="1"/>
          </p:cNvSpPr>
          <p:nvPr>
            <p:ph idx="1"/>
          </p:nvPr>
        </p:nvSpPr>
        <p:spPr/>
        <p:txBody>
          <a:bodyPr/>
          <a:lstStyle/>
          <a:p>
            <a:pPr>
              <a:defRPr sz="1800"/>
            </a:pPr>
            <a:r>
              <a:t>Vor Reinigungs- und Anstricharbeiten sollte die Konstruktion in den Mittelpunkt stehen. Wasser darf nirgends dauerhaft stehen bleiben. Anschlüsse müssen entwässern, Abläufe funktionieren und alle relevanten Bauteile zum Abtrocknen erreichbar sein. Diese Grundvoraussetzung lässt sich später nur mit zusätzlichem Aufwand verbessern. Bei der Kontrolle gehören daher auch stehendes Wasser, feuchte Ecken, undichte Übergänge und ungünstig angebrachte Auflagerpunkte auf die Liste. Zudem lohnt sich ein Blick auf die Zugänglichkeit: Dachfläche, Rinne, Fallrohr und Wandanschluss sollten möglichst ohne großes Gerät erreichbar sein. Details zur Planung 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 beginnt mit konstruktiver Entwässerung</a:t>
            </a:r>
          </a:p>
        </p:txBody>
      </p:sp>
      <p:sp>
        <p:nvSpPr>
          <p:cNvPr id="3" name="Content Placeholder 2"/>
          <p:cNvSpPr>
            <a:spLocks noGrp="1"/>
          </p:cNvSpPr>
          <p:nvPr>
            <p:ph idx="1"/>
          </p:nvPr>
        </p:nvSpPr>
        <p:spPr/>
        <p:txBody>
          <a:bodyPr/>
          <a:lstStyle/>
          <a:p>
            <a:pPr>
              <a:defRPr sz="1800"/>
            </a:pPr>
            <a:r>
              <a:t> zu den erforderlichen Anschlüssen zeigt der Ratgeber zur Holzüberdachung auf der Hauptseite.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Dachfläche und Wasserführung getrennt prüfen</a:t>
            </a:r>
          </a:p>
        </p:txBody>
      </p:sp>
      <p:sp>
        <p:nvSpPr>
          <p:cNvPr id="3" name="Content Placeholder 2"/>
          <p:cNvSpPr>
            <a:spLocks noGrp="1"/>
          </p:cNvSpPr>
          <p:nvPr>
            <p:ph idx="1"/>
          </p:nvPr>
        </p:nvSpPr>
        <p:spPr/>
        <p:txBody>
          <a:bodyPr/>
          <a:lstStyle/>
          <a:p>
            <a:pPr>
              <a:defRPr sz="1800"/>
            </a:pPr>
            <a:r>
              <a:t>Am Holztragwerk lassen sich Pfosten, Träger und Sparren auf Risse, Verformungen, dunkle Stellen und Holzmehl untersuchen. Feuchtebelastung ist dabei ein wichtiges Warnsignal. Besonders Hirnholzenden und Auflagerpunkte verdienen Aufmerksamkeit, weil Feuchte dort besonders leicht eindringen kann. Schrauben und Beschläge sind auf festen Sitz zu prüfen; fehlende Teile sollten zeitnah ersetzt werden. Auf der Dachfläche sind Laub, Moos und Schmutz zu entfernen, damit Wasser ungehindert ablaufen kann. Befestigungen sowie Fugen zwischen Platten oder Profilen gehören ebenfalls zur Sichtkontrolle. Dichtungen am Wandanschluss und First werden auf Risse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Dachfläche und Wasserführung getrennt prüfen</a:t>
            </a:r>
          </a:p>
        </p:txBody>
      </p:sp>
      <p:sp>
        <p:nvSpPr>
          <p:cNvPr id="3" name="Content Placeholder 2"/>
          <p:cNvSpPr>
            <a:spLocks noGrp="1"/>
          </p:cNvSpPr>
          <p:nvPr>
            <p:ph idx="1"/>
          </p:nvPr>
        </p:nvSpPr>
        <p:spPr/>
        <p:txBody>
          <a:bodyPr/>
          <a:lstStyle/>
          <a:p>
            <a:pPr>
              <a:defRPr sz="1800"/>
            </a:pPr>
            <a:r>
              <a:t>und Versprödung untersucht. Für die Wasserführung sind Rinne, Laubfanggitter, Fallrohr und Ablaufziel zu reinigen beziehungsweise auf Durchgängigkeit zu prüfen. Auch die Übergänge von Rinne und Fallrohr sowie die Anschlüsse an die Dachfläche sollten auf Dichtigkeit kontrolliert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überschaubarer Rundgang durch das Jahr</a:t>
            </a:r>
          </a:p>
        </p:txBody>
      </p:sp>
      <p:sp>
        <p:nvSpPr>
          <p:cNvPr id="3" name="Content Placeholder 2"/>
          <p:cNvSpPr>
            <a:spLocks noGrp="1"/>
          </p:cNvSpPr>
          <p:nvPr>
            <p:ph idx="1"/>
          </p:nvPr>
        </p:nvSpPr>
        <p:spPr/>
        <p:txBody>
          <a:bodyPr/>
          <a:lstStyle/>
          <a:p>
            <a:pPr>
              <a:defRPr sz="1800"/>
            </a:pPr>
            <a:r>
              <a:t>Im Frühjahr bietet sich nach dem Winter ein ganzheitlicher Rundgang an. Alle Bauteile werden auf sichtbare Schäden geprüft, Laub- und Frostreste werden aus Rinne und Fallrohr entfernt, und Schrauben sowie Beschläge werden auf festen Sitz kontrolliert. Im Sommer sind Moos- und Algenbewuchs sowie verschattete Holzseiten im Blick. Reinigung oder Nachbehandlung sollten dabei nur nach den Angaben des jeweiligen Herstellers erfolgen. Auch Beschattungselemente und ihre Befestigungen gehören zur Kontrolle. Im Herbst wird Laub von der Dachfläche sowie aus Rinne und Fallrohr entfernt. Letzte Sichtkontrollen an Übergängen und Anschlüssen zeigen, ob klei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überschaubarer Rundgang durch das Jahr</a:t>
            </a:r>
          </a:p>
        </p:txBody>
      </p:sp>
      <p:sp>
        <p:nvSpPr>
          <p:cNvPr id="3" name="Content Placeholder 2"/>
          <p:cNvSpPr>
            <a:spLocks noGrp="1"/>
          </p:cNvSpPr>
          <p:nvPr>
            <p:ph idx="1"/>
          </p:nvPr>
        </p:nvSpPr>
        <p:spPr/>
        <p:txBody>
          <a:bodyPr/>
          <a:lstStyle/>
          <a:p>
            <a:pPr>
              <a:defRPr sz="1800"/>
            </a:pPr>
            <a:r>
              <a:t>ne Schäden vor dem Winter behoben werden können. Nach starkem Schneefall oder Eisregen ist zu prüfen, ob das Wasser weiterhin abfließt. Vereiste Rinnen und Fallrohre sollten nicht mit Gewalt freikratzt, sondern mit geeigneten Mitteln aufgetaut werden. Schäden werden dokumentiert und in die Planung für das Frühjahr übernommen.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zustandsorientiert behandeln</a:t>
            </a:r>
          </a:p>
        </p:txBody>
      </p:sp>
      <p:sp>
        <p:nvSpPr>
          <p:cNvPr id="3" name="Content Placeholder 2"/>
          <p:cNvSpPr>
            <a:spLocks noGrp="1"/>
          </p:cNvSpPr>
          <p:nvPr>
            <p:ph idx="1"/>
          </p:nvPr>
        </p:nvSpPr>
        <p:spPr/>
        <p:txBody>
          <a:bodyPr/>
          <a:lstStyle/>
          <a:p>
            <a:pPr>
              <a:defRPr sz="1800"/>
            </a:pPr>
            <a:r>
              <a:t>Für die Oberflächenpflege gibt es keine allgemeingültige Jahresfrist. Maßgeblich sind die Herstellerhinweise und der sichtbare Zustand. Abblätternde Stellen, Vergrauung oder Flecken sollten dokumentiert werden, damit eine gezielte Nachbehandlung möglich ist. Eine bereits werksseitig beschichtete Fläche muss nicht wie eine unbehandelte Holzfläche gepflegt werden. Ebenso wichtig ist die klare Zuordnung empfohlener Reinigungsmittel und der zulässigen Pflegeverfahren. Neben dem Zustand der Fläche beeinflussen Verschattung, Feuchte und die Intensität der Bewitterung den tatsächlichen Bedarf. Deshalb ist eine schriftliche Wartungsliste, die Produkt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zustandsorientiert behandeln</a:t>
            </a:r>
          </a:p>
        </p:txBody>
      </p:sp>
      <p:sp>
        <p:nvSpPr>
          <p:cNvPr id="3" name="Content Placeholder 2"/>
          <p:cNvSpPr>
            <a:spLocks noGrp="1"/>
          </p:cNvSpPr>
          <p:nvPr>
            <p:ph idx="1"/>
          </p:nvPr>
        </p:nvSpPr>
        <p:spPr/>
        <p:txBody>
          <a:bodyPr/>
          <a:lstStyle/>
          <a:p>
            <a:pPr>
              <a:defRPr sz="1800"/>
            </a:pPr>
            <a:r>
              <a:t>, Herstellerangaben, durchgeführte Arbeiten und Beobachtungen enthält, hilfreicher als ein starres Intervall.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eine realistische Fachanfrage</a:t>
            </a:r>
          </a:p>
        </p:txBody>
      </p:sp>
      <p:sp>
        <p:nvSpPr>
          <p:cNvPr id="3" name="Content Placeholder 2"/>
          <p:cNvSpPr>
            <a:spLocks noGrp="1"/>
          </p:cNvSpPr>
          <p:nvPr>
            <p:ph idx="1"/>
          </p:nvPr>
        </p:nvSpPr>
        <p:spPr/>
        <p:txBody>
          <a:bodyPr/>
          <a:lstStyle/>
          <a:p>
            <a:pPr>
              <a:defRPr sz="1800"/>
            </a:pPr>
            <a:r>
              <a:t>Bevor konkrete Termine festgelegt werden, sollten Produkt, Standort und Bewitterung bekannt sein. Für die Anfrage an einen Fachbetrieb sind deshalb besonders konkrete Fragen wichtig: Welche Reinigungs- und Pflegeverfahren sind für die gewählte Oberfläche vorgesehen? Wie häufig muss die Wasserführung am Standort tatsächlich gereinigt werden? Welche Verbindungsmittel und Dichtungen sind in welchen Abständen zu prüfen? Welche Arbeiten lassen sich selbst erledigen, und welche gehören in fachkundige Hände? Eine Revisionierbarkeit des Fallrohrs, gut erreichbare Bauteile, dokumentierte Herstellerhinweise und eine fortlaufende Notiz der Wartungsgänge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eine realistische Fachanfrage</a:t>
            </a:r>
          </a:p>
        </p:txBody>
      </p:sp>
      <p:sp>
        <p:nvSpPr>
          <p:cNvPr id="3" name="Content Placeholder 2"/>
          <p:cNvSpPr>
            <a:spLocks noGrp="1"/>
          </p:cNvSpPr>
          <p:nvPr>
            <p:ph idx="1"/>
          </p:nvPr>
        </p:nvSpPr>
        <p:spPr/>
        <p:txBody>
          <a:bodyPr/>
          <a:lstStyle/>
          <a:p>
            <a:pPr>
              <a:defRPr sz="1800"/>
            </a:pPr>
            <a:r>
              <a:t> erleichtern die Abstimmung. So entsteht aus der Jahrespflege ein nachvollziehbarer Ablauf, der sichtbare Schäden frühzeitig erfasst und die Funktion der Holzüberdachung unterstützt.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Jahrespflege einer Holzüberdachung: Wartungsarbeiten nach Bauteil und Saison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